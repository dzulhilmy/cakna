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Kutipan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2525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Assist</c:v>
                  </c:pt>
                  <c:pt idx="1">
                    <c:v>Biz</c:v>
                  </c:pt>
                  <c:pt idx="2">
                    <c:v>Circle</c:v>
                  </c:pt>
                  <c:pt idx="3">
                    <c:v>Digital</c:v>
                  </c:pt>
                  <c:pt idx="4">
                    <c:v>Edu</c:v>
                  </c:pt>
                  <c:pt idx="5">
                    <c:v>Future</c:v>
                  </c:pt>
                  <c:pt idx="6">
                    <c:v>Green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54</c:v>
                </c:pt>
                <c:pt idx="1">
                  <c:v>307</c:v>
                </c:pt>
                <c:pt idx="2">
                  <c:v>208</c:v>
                </c:pt>
                <c:pt idx="3">
                  <c:v>201</c:v>
                </c:pt>
                <c:pt idx="4">
                  <c:v>120</c:v>
                </c:pt>
                <c:pt idx="5">
                  <c:v>95</c:v>
                </c:pt>
                <c:pt idx="6">
                  <c:v>274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Agihan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2525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Assist</c:v>
                  </c:pt>
                  <c:pt idx="1">
                    <c:v>Biz</c:v>
                  </c:pt>
                  <c:pt idx="2">
                    <c:v>Circle</c:v>
                  </c:pt>
                  <c:pt idx="3">
                    <c:v>Digital</c:v>
                  </c:pt>
                  <c:pt idx="4">
                    <c:v>Edu</c:v>
                  </c:pt>
                  <c:pt idx="5">
                    <c:v>Future</c:v>
                  </c:pt>
                  <c:pt idx="6">
                    <c:v>Green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33</c:v>
                </c:pt>
                <c:pt idx="1">
                  <c:v>215</c:v>
                </c:pt>
                <c:pt idx="2">
                  <c:v>149</c:v>
                </c:pt>
                <c:pt idx="3">
                  <c:v>129</c:v>
                </c:pt>
                <c:pt idx="4">
                  <c:v>91</c:v>
                </c:pt>
                <c:pt idx="5">
                  <c:v>61</c:v>
                </c:pt>
                <c:pt idx="6">
                  <c:v>197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52525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2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F3F4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Cakna Hub — pusat sehenti untuk semua inisiatif program komuniti (CSR) QC Group / Cakna. Deck ini menerangkan aliran kerja penuh: pendaftaran, penghantaran laporan, semakan, dan pelaporan konsolidasi. / One central hub for QC Group / Cakna community (CSR) programmes; this deck walks the full workflow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Cakna Hub ada tiga bahagian: 7 Core (teras CSR), Society &amp; Others (penghantaran program), dan Admin (semakan + pelaporan).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Aliran penuh: Onboarding (daftar → kelulusan HQ → log masuk) → Penghantaran (borang 6 bahagian → auto-rujukan) → Semakan (lulus / perlu penambahbaikan) → Pelaporan (dashboard → laporan konsolidasi → eksport). Diagram ini juga dihantar sebagai fail berasingan.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peranan: Franchaisi (hantar), Team CAKNA (semak), HQ/IT (lulus akaun + semua). Pendaftaran baharu perlu kelulusan HQ dahulu.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Fasa 1: franchisee daftar, admin luluskan akaun, kemudian log masuk. Keselamatan gred-prototaip: scrypt + HMAC cookie; tukar AUTH_SECRET &amp; DB sebelum produksi.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Fasa 2: franchisee isi borang 6 bahagian. Sistem beri no. rujukan HCQC/2026/000N dan tetapkan status Menunggu Semakan. Laluan alternatif: Rekod Acara (gambar sahaja).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Fasa 3: Team CAKNA/HQ semak. Status: Menunggu Semakan → Diluluskan atau Perlu Penambahbaikan (dengan catatan). Hanya yang diluluskan dikira dalam agihan.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Fasa 4: dashboard (KPI + ikut negeri), analitik (ikut Core &amp; PIC), laporan konsolidasi, dan eksport PDF/CSV. NOTA: angka di sini ialah DATA CONTOH daripada ledger sampel — bukan angka sebenar.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domain CSR: 7 Core (teras) + 5 Kluster HOME. Setiap program dikategorikan supaya pelaporan konsisten.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Teknikal: Next.js 15 penuh-stack, TypeScript, Tailwind v4. Auth scrypt + HMAC. Data JSON fail (boleh naik taraf ke DB). Endpoint API bersih dan berperingkat.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Status: kebanyakan aliran kerja siap. Separa: simpanan (fail-based) &amp; perkongsian (PDF/CSV, belum in-app). Belum: arkib/audit. Seterusnya: DB sebenar, resubmit in-app, arkib, PIC dalam borang,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Penutup: ringkasan + akaun demo untuk sesi langsung. admin/reviewer/franchisee @cakna.com. Jalankan setempat dengan npm run 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ALIRAN KERJA ·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18288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Cakna </a:t>
            </a:r>
            <a:pPr indent="0" marL="0">
              <a:buNone/>
            </a:pPr>
            <a:r>
              <a:rPr lang="en-US" sz="6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822960" y="31272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Program Komuniti CSR  ·  QC Group / Cakna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Aliran kerja hujung-ke-hujung — daftar, hantar, semak, dan lapor.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1965960" cy="402336"/>
          </a:xfrm>
          <a:prstGeom prst="roundRect">
            <a:avLst>
              <a:gd name="adj" fmla="val 18182"/>
            </a:avLst>
          </a:prstGeom>
          <a:solidFill>
            <a:srgbClr val="232327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3484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Onboarding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90088" y="4434840"/>
            <a:ext cx="1965960" cy="402336"/>
          </a:xfrm>
          <a:prstGeom prst="roundRect">
            <a:avLst>
              <a:gd name="adj" fmla="val 18182"/>
            </a:avLst>
          </a:prstGeom>
          <a:solidFill>
            <a:srgbClr val="232327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443484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Penghantaran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57216" y="4434840"/>
            <a:ext cx="1965960" cy="402336"/>
          </a:xfrm>
          <a:prstGeom prst="roundRect">
            <a:avLst>
              <a:gd name="adj" fmla="val 18182"/>
            </a:avLst>
          </a:prstGeom>
          <a:solidFill>
            <a:srgbClr val="232327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57216" y="443484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Semakan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24344" y="4434840"/>
            <a:ext cx="1965960" cy="402336"/>
          </a:xfrm>
          <a:prstGeom prst="roundRect">
            <a:avLst>
              <a:gd name="adj" fmla="val 18182"/>
            </a:avLst>
          </a:prstGeom>
          <a:solidFill>
            <a:srgbClr val="232327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24344" y="443484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Pelaporan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Group / Cakna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89720" y="6144768"/>
            <a:ext cx="2148840" cy="365760"/>
          </a:xfrm>
          <a:prstGeom prst="roundRect">
            <a:avLst>
              <a:gd name="adj" fmla="val 15000"/>
            </a:avLst>
          </a:prstGeom>
          <a:solidFill>
            <a:srgbClr val="232327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61447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Prototaip · Prototype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PENGENALAN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Cakna Hub?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hab pusat </a:t>
            </a:r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semua inisiatif program komuniti (CSR) QC Group / Cakna — merekod program, memohon pembiayaan, menyemak permohonan, dan menjana laporan konsolidasi untuk HQ / Yayasan.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hub to log programmes, apply for funding, review submissions, and generate consolidated reports for HQ / Yayasan.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bahagian utama · Three partitions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0" y="1883664"/>
            <a:ext cx="713232" cy="71323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8836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06640" y="17739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06640" y="217627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Tujuh teras CSR: Assist, Biz, Circle, Digital, Edu, Future, Green.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3127248"/>
            <a:ext cx="534924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3456432"/>
            <a:ext cx="713232" cy="71323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4564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406640" y="33467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&amp; Others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406640" y="37490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permohonan pembiayaan &amp; rekod acara komuniti.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4700016"/>
            <a:ext cx="534924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5029200"/>
            <a:ext cx="713232" cy="7132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50292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406640" y="49194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06640" y="532180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semakan, analitik &amp; laporan konsolidasi.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ALIRAN KERJA · THE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proses, empat fasa</a:t>
            </a:r>
            <a:endParaRPr lang="en-US" sz="2600" dirty="0"/>
          </a:p>
        </p:txBody>
      </p:sp>
      <p:pic>
        <p:nvPicPr>
          <p:cNvPr id="4" name="Image 0" descr="/root/cakna/workflow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375" y="1051560"/>
            <a:ext cx="902477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PERANAN ·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buat apa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3383280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3054096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81051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Franchaisi
</a:t>
            </a:r>
            <a:pPr algn="l"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59536" y="2825496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2706624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akaun &amp; log masuk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9536" y="3483864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364992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Hantar Laporan Program &amp; rekod acara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59536" y="4142232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023360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 status &amp; catatan permohonan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89120" y="1554480"/>
            <a:ext cx="3566160" cy="3383280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45152" y="1810512"/>
            <a:ext cx="3054096" cy="658368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81051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CAKNA
</a:t>
            </a:r>
            <a:pPr algn="l"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4700016" y="2825496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4919472" y="2706624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 setiap permohonan pembiayaan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00016" y="3483864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3364992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Luluskan atau minta penambahbaikan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00016" y="4142232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4023360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dashboard &amp; analitik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0" y="1554480"/>
            <a:ext cx="3566160" cy="3383280"/>
          </a:xfrm>
          <a:prstGeom prst="roundRect">
            <a:avLst>
              <a:gd name="adj" fmla="val 297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85632" y="1810512"/>
            <a:ext cx="3054096" cy="658368"/>
          </a:xfrm>
          <a:prstGeom prst="roundRect">
            <a:avLst>
              <a:gd name="adj" fmla="val 11111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05088" y="181051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/ IT
</a:t>
            </a:r>
            <a:pPr algn="l"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8540496" y="2825496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6" name="Text 24"/>
          <p:cNvSpPr/>
          <p:nvPr/>
        </p:nvSpPr>
        <p:spPr>
          <a:xfrm>
            <a:off x="8759952" y="2706624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Luluskan akaun pengguna baharu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540496" y="3483864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8" name="Text 26"/>
          <p:cNvSpPr/>
          <p:nvPr/>
        </p:nvSpPr>
        <p:spPr>
          <a:xfrm>
            <a:off x="8759952" y="3364992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keupayaan penyemak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540496" y="4142232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30" name="Text 28"/>
          <p:cNvSpPr/>
          <p:nvPr/>
        </p:nvSpPr>
        <p:spPr>
          <a:xfrm>
            <a:off x="8759952" y="4023360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konsolidasi + urus pengguna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138928"/>
            <a:ext cx="11064240" cy="960120"/>
          </a:xfrm>
          <a:prstGeom prst="roundRect">
            <a:avLst>
              <a:gd name="adj" fmla="val 1047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8680" y="5367528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367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554480" y="5138928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Kawalan akses: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Akaun baharu bermula sebagai </a:t>
            </a:r>
            <a:pPr indent="0" marL="0">
              <a:lnSpc>
                <a:spcPct val="105000"/>
              </a:lnSpc>
              <a:buNone/>
            </a:pPr>
            <a:r>
              <a:rPr lang="en-US" sz="1350" b="1" i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sehingga diluluskan oleh HQ / IT.  </a:t>
            </a:r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sign-ups stay pending until an admin approves them.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69164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— DAFTAR &amp; AKSES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Daftar, luluskan, log masuk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766560" cy="1051560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81328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Akaun   </a:t>
            </a:r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account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81328" y="21488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/register</a:t>
            </a:r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Franchaisi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6766560" cy="1051560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081528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81328" y="29900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Kelulusan HQ / IT   </a:t>
            </a:r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 the account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81328" y="33558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/admin/users</a:t>
            </a:r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HQ / 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6766560" cy="1051560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288536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81328" y="41970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Masuk   </a:t>
            </a:r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81328" y="456285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Franchaisi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89520" y="1600200"/>
            <a:ext cx="4023360" cy="3538728"/>
          </a:xfrm>
          <a:prstGeom prst="roundRect">
            <a:avLst>
              <a:gd name="adj" fmla="val 2842"/>
            </a:avLst>
          </a:prstGeom>
          <a:solidFill>
            <a:srgbClr val="F1F5F9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882128" y="1874520"/>
            <a:ext cx="548640" cy="5486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788212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595360" y="18470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Keselamatan
</a:t>
            </a:r>
            <a:pPr indent="0" marL="0">
              <a:lnSpc>
                <a:spcPct val="95000"/>
              </a:lnSpc>
              <a:buNone/>
            </a:pP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882128" y="2843784"/>
            <a:ext cx="100584" cy="10058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273405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laluan di-hash dengan scrypt (bukan teks biasa)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82128" y="3447288"/>
            <a:ext cx="100584" cy="10058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8" name="Text 26"/>
          <p:cNvSpPr/>
          <p:nvPr/>
        </p:nvSpPr>
        <p:spPr>
          <a:xfrm>
            <a:off x="8092440" y="333756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guna kuki httpOnly bertandatangan HMAC (7 hari)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882128" y="4050792"/>
            <a:ext cx="100584" cy="10058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394106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Pengawal laluan di pelayan (server-side route guards)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82128" y="4654296"/>
            <a:ext cx="100584" cy="10058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2" name="Text 30"/>
          <p:cNvSpPr/>
          <p:nvPr/>
        </p:nvSpPr>
        <p:spPr>
          <a:xfrm>
            <a:off x="8092440" y="454456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Kawalan capaian ikut peranan: admin · reviewer · franchisee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69164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PENGHANTARAN — LAPORAN PROGRAM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Borang Laporan Program Hub Cakna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digital borang kertas — 6 bahagian.  ·  A digital version of the paper form, in six sections.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66160" cy="1170432"/>
          </a:xfrm>
          <a:prstGeom prst="roundRect">
            <a:avLst>
              <a:gd name="adj" fmla="val 859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2002536"/>
            <a:ext cx="475488" cy="4754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002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1732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Maklumat Cawangan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417320" y="23500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· franchisee · AJK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783080"/>
            <a:ext cx="3566160" cy="1170432"/>
          </a:xfrm>
          <a:prstGeom prst="roundRect">
            <a:avLst>
              <a:gd name="adj" fmla="val 859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2002536"/>
            <a:ext cx="475488" cy="4754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626864" y="2002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25780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Kluster &amp; Program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257800" y="23500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cluster · nama · tarikh · lokasi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0" y="1783080"/>
            <a:ext cx="3566160" cy="1170432"/>
          </a:xfrm>
          <a:prstGeom prst="roundRect">
            <a:avLst>
              <a:gd name="adj" fmla="val 859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67344" y="2002536"/>
            <a:ext cx="475488" cy="4754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467344" y="2002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09828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Penerima Manfaat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098280" y="23500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· kategori · komuniti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209544"/>
            <a:ext cx="3566160" cy="1170432"/>
          </a:xfrm>
          <a:prstGeom prst="roundRect">
            <a:avLst>
              <a:gd name="adj" fmla="val 859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384" y="3429000"/>
            <a:ext cx="475488" cy="4754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3429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417320" y="33924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Perbelanjaan &amp; Dana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417320" y="37764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(RM) · sumber dana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89120" y="3209544"/>
            <a:ext cx="3566160" cy="1170432"/>
          </a:xfrm>
          <a:prstGeom prst="roundRect">
            <a:avLst>
              <a:gd name="adj" fmla="val 859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26864" y="3429000"/>
            <a:ext cx="475488" cy="4754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4626864" y="3429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5257800" y="33924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Gambar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257800" y="37764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Pautan folder gambar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0" y="3209544"/>
            <a:ext cx="3566160" cy="1170432"/>
          </a:xfrm>
          <a:prstGeom prst="roundRect">
            <a:avLst>
              <a:gd name="adj" fmla="val 859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67344" y="3429000"/>
            <a:ext cx="475488" cy="4754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8467344" y="3429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098280" y="33924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Ulasan &amp; Perakuan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098280" y="37764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Impak · cadangan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5138928"/>
            <a:ext cx="5486400" cy="1051560"/>
          </a:xfrm>
          <a:prstGeom prst="roundRect">
            <a:avLst>
              <a:gd name="adj" fmla="val 956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22960" y="5285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Auto-rujukan  </a:t>
            </a:r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HCQC/2026/000N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2960" y="56327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Dijana automatik + status awal Menunggu Semakan.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26480" y="5138928"/>
            <a:ext cx="5486400" cy="1051560"/>
          </a:xfrm>
          <a:prstGeom prst="roundRect">
            <a:avLst>
              <a:gd name="adj" fmla="val 9565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00800" y="5285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Laluan lain:  </a:t>
            </a:r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Rekod Acara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00800" y="56327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Acara dengan muat naik gambar — tiada pembiayaan  ·  /society/events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69164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SEMAKAN — REVIEW &amp; APPROVAL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Semak, kemudian luluskan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Kitaran status · Status lifecycle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745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Menunggu Semakan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2203704"/>
            <a:ext cx="777240" cy="0"/>
          </a:xfrm>
          <a:prstGeom prst="line">
            <a:avLst/>
          </a:prstGeom>
          <a:noFill/>
          <a:ln w="25400">
            <a:solidFill>
              <a:srgbClr val="D4D4D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60520" y="157276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157276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Diluluskan  ✓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60520" y="2395728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FF1F2"/>
          </a:solidFill>
          <a:ln w="12700">
            <a:solidFill>
              <a:srgbClr val="FDA4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23957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Penambahbaikan  ↩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6903720" cy="2651760"/>
          </a:xfrm>
          <a:prstGeom prst="roundRect">
            <a:avLst>
              <a:gd name="adj" fmla="val 379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6393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penyemak buat · What the reviewer does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4169664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115568" y="404164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CAKNA / HQ menyemak setiap permohonan di /admin/funding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68680" y="4791456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" y="46634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Luluskan (Diluluskan) atau minta penambahbaikan dengan catatan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68680" y="5413248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115568" y="528523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Franchaisi melihat catatan penambahbaikan pada permohonan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635240" y="3429000"/>
            <a:ext cx="3977640" cy="2651760"/>
          </a:xfrm>
          <a:prstGeom prst="roundRect">
            <a:avLst>
              <a:gd name="adj" fmla="val 379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36992" y="370332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7936992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641080" y="37307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Peraturan penting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36992" y="4343400"/>
            <a:ext cx="3429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permohonan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Diluluskan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dikira sebagai agihan (disbursed) di dashboard &amp; laporan.
</a:t>
            </a:r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approved applications count toward disbursed totals.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69164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PELAPORAN — REPORTING &amp; SHARING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analitik &amp; laporan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70048" cy="1170432"/>
          </a:xfrm>
          <a:prstGeom prst="roundRect">
            <a:avLst>
              <a:gd name="adj" fmla="val 859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64208"/>
            <a:ext cx="128016" cy="12801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969264" y="159105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Kutipan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" y="188366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1.26 jt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68096" y="234086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collected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46704" y="1463040"/>
            <a:ext cx="2670048" cy="1170432"/>
          </a:xfrm>
          <a:prstGeom prst="roundRect">
            <a:avLst>
              <a:gd name="adj" fmla="val 859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1664208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3767328" y="159105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Agihan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47872" y="188366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883 rb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3566160" y="234086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collected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44768" y="1463040"/>
            <a:ext cx="2670048" cy="1170432"/>
          </a:xfrm>
          <a:prstGeom prst="roundRect">
            <a:avLst>
              <a:gd name="adj" fmla="val 859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1664208"/>
            <a:ext cx="128016" cy="12801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159105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 Bersih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45936" y="188366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376 rb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6364224" y="234086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balance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42832" y="1463040"/>
            <a:ext cx="2670048" cy="1170432"/>
          </a:xfrm>
          <a:prstGeom prst="roundRect">
            <a:avLst>
              <a:gd name="adj" fmla="val 859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62288" y="1664208"/>
            <a:ext cx="128016" cy="128016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3" name="Text 21"/>
          <p:cNvSpPr/>
          <p:nvPr/>
        </p:nvSpPr>
        <p:spPr>
          <a:xfrm>
            <a:off x="9363456" y="159105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Permohonan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0" y="188366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9162288" y="234086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lulus · 1 menunggu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28163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Kutipan vs agihan mengikut Core  —  RM '000</a:t>
            </a:r>
            <a:endParaRPr lang="en-US" sz="13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457200" y="3108960"/>
          <a:ext cx="713232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7772400" y="2816352"/>
            <a:ext cx="3840480" cy="3200400"/>
          </a:xfrm>
          <a:prstGeom prst="roundRect">
            <a:avLst>
              <a:gd name="adj" fmla="val 3143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028432" y="2999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HQ / Yayasan dapat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8028432" y="343814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/>
        </p:spPr>
      </p:sp>
      <p:sp>
        <p:nvSpPr>
          <p:cNvPr id="31" name="Text 28"/>
          <p:cNvSpPr/>
          <p:nvPr/>
        </p:nvSpPr>
        <p:spPr>
          <a:xfrm>
            <a:off x="8284464" y="332841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—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+ kutipan vs agihan ikut negeri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028432" y="407822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/>
        </p:spPr>
      </p:sp>
      <p:sp>
        <p:nvSpPr>
          <p:cNvPr id="33" name="Text 30"/>
          <p:cNvSpPr/>
          <p:nvPr/>
        </p:nvSpPr>
        <p:spPr>
          <a:xfrm>
            <a:off x="8284464" y="396849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Analitik  —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ikut Core &amp; ikut PIC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028432" y="471830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/>
        </p:spPr>
      </p:sp>
      <p:sp>
        <p:nvSpPr>
          <p:cNvPr id="35" name="Text 32"/>
          <p:cNvSpPr/>
          <p:nvPr/>
        </p:nvSpPr>
        <p:spPr>
          <a:xfrm>
            <a:off x="8284464" y="460857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Konsolidasi  —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sedia-cetak untuk HQ / Yayasan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028432" y="535838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/>
        </p:spPr>
      </p:sp>
      <p:sp>
        <p:nvSpPr>
          <p:cNvPr id="37" name="Text 34"/>
          <p:cNvSpPr/>
          <p:nvPr/>
        </p:nvSpPr>
        <p:spPr>
          <a:xfrm>
            <a:off x="8284464" y="524865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Eksport  —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(cetak) + Excel (CSV)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48640" y="61447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contoh · Sample / illustrative data — angka dashboard menggunakan ledger contoh sehingga data pelaporan sebenar tersedia.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DOMAIN · CSR TAXONOMY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Core &amp; Kluster HOME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70048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92224"/>
            <a:ext cx="493776" cy="49377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922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773936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231136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Kebajikan &amp; bantuan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46704" y="1554480"/>
            <a:ext cx="2670048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792224"/>
            <a:ext cx="493776" cy="49377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7922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69664" y="1773936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02736" y="2231136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Perniagaan &amp; tadbir urus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44768" y="1554480"/>
            <a:ext cx="2670048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64224" y="1792224"/>
            <a:ext cx="493776" cy="49377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17922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67728" y="1773936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231136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Kesihatan &amp; prihatin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42832" y="1554480"/>
            <a:ext cx="2670048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62288" y="1792224"/>
            <a:ext cx="493776" cy="49377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9162288" y="17922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765792" y="1773936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98864" y="2231136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Inovasi digital komuniti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947672" y="2990088"/>
            <a:ext cx="2670048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167128" y="3227832"/>
            <a:ext cx="493776" cy="49377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2167128" y="3227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770632" y="3209544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203704" y="366674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 &amp; insan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45736" y="2990088"/>
            <a:ext cx="2670048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65192" y="3227832"/>
            <a:ext cx="493776" cy="49377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4965192" y="3227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568696" y="3209544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01768" y="366674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Kepimpinan &amp; motivasi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543800" y="2990088"/>
            <a:ext cx="2670048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63256" y="3227832"/>
            <a:ext cx="493776" cy="49377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7763256" y="3227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366760" y="3209544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799832" y="366674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Kelestarian alam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43708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Kluster HOME  ·  program dikategorikan dalam borang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480060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8006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Edu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834640" y="480060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34640" y="48006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Cheez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120640" y="480060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48006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Biz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406640" y="480060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06640" y="48006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Health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9692640" y="4800600"/>
            <a:ext cx="214884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92640" y="48006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Go Green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48640" y="5623560"/>
            <a:ext cx="11064240" cy="658368"/>
          </a:xfrm>
          <a:prstGeom prst="roundRect">
            <a:avLst>
              <a:gd name="adj" fmla="val 1527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program dipetakan kepada satu Core dan satu kluster HOME</a:t>
            </a:r>
            <a:pPr indent="0" marL="0">
              <a:buNone/>
            </a:pPr>
            <a:r>
              <a:rPr lang="en-US" sz="13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menjadikan pelaporan konsisten merentas cawangan &amp; negeri.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TEKNIKAL · 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sebalik tabir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pasukan teknikal — ringkas.  ·  A light technical view for the mixed audience.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416052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84832"/>
            <a:ext cx="3054096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848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Timbunan Teknologi
</a:t>
            </a:r>
            <a:pPr algn="l"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59536" y="3099816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98094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(App Router)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9536" y="3785616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66674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9536" y="4471416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435254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 · lucide-react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9536" y="5157216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992" y="503834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 dalam satu (route handlers)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89120" y="1828800"/>
            <a:ext cx="3566160" cy="416052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2084832"/>
            <a:ext cx="3054096" cy="658368"/>
          </a:xfrm>
          <a:prstGeom prst="roundRect">
            <a:avLst>
              <a:gd name="adj" fmla="val 11111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0848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Data
</a:t>
            </a:r>
            <a:pPr algn="l"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persistence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4700016" y="3099816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298094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 password hashing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00016" y="3785616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366674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Kuki sesi httpOnly HMAC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00016" y="4471416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435254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dalam fail JSON (data/*.json)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00016" y="5157216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503834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Boleh tukar ke DB tanpa ubah API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0" y="1828800"/>
            <a:ext cx="3566160" cy="4160520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485632" y="2084832"/>
            <a:ext cx="3054096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05088" y="20848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API
</a:t>
            </a:r>
            <a:pPr algn="l" indent="0" marL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8540496" y="3099816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1" name="Text 29"/>
          <p:cNvSpPr/>
          <p:nvPr/>
        </p:nvSpPr>
        <p:spPr>
          <a:xfrm>
            <a:off x="8759952" y="298094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/api/funding · review · export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540496" y="3785616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3" name="Text 31"/>
          <p:cNvSpPr/>
          <p:nvPr/>
        </p:nvSpPr>
        <p:spPr>
          <a:xfrm>
            <a:off x="8759952" y="366674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/api/events (muat naik)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540496" y="4471416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5" name="Text 33"/>
          <p:cNvSpPr/>
          <p:nvPr/>
        </p:nvSpPr>
        <p:spPr>
          <a:xfrm>
            <a:off x="8759952" y="435254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 · login/register/logout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540496" y="5157216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8759952" y="503834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/api/admin/users · cores · reports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siap, apa yang seterusnya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Liputan aliran kerja (langkah 12–19)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Pendaftaran + kelulusan HQ/IT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257800" y="1956816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0" y="19568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40030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003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Hantar laporan + lampiran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257800" y="2482596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24825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26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Semakan &amp; kelulusan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257800" y="3008376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30083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45186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518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Rekod &amp; simpanan selamat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257800" y="3534156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35341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977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analitik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257800" y="4059936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40599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50342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5034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konsolidasi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257800" y="4585716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45857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029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Eksport &amp; kongsi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257800" y="5111496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51114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55498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5549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Arkib / audit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257800" y="5637276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FFF1F2"/>
          </a:solidFill>
          <a:ln w="12700">
            <a:solidFill>
              <a:srgbClr val="FDA4A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56372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75120" y="1874520"/>
            <a:ext cx="4937760" cy="4160520"/>
          </a:xfrm>
          <a:prstGeom prst="roundRect">
            <a:avLst>
              <a:gd name="adj" fmla="val 2418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88900" dist="38100" dir="5400000">
              <a:srgbClr val="9CA3AF">
                <a:alpha val="2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49440" y="20848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seterusnya · Next steps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6949440" y="2606040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69494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479792" y="253288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Pangkalan data sebenar + tetapkan AUTH_SECRET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949440" y="3264408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3" name="Text 41"/>
          <p:cNvSpPr/>
          <p:nvPr/>
        </p:nvSpPr>
        <p:spPr>
          <a:xfrm>
            <a:off x="694944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479792" y="319125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Kitaran resubmit dalam app (edit selepas penambahbaikan)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949440" y="3922776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44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479792" y="384962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Perkongsian &amp; arkib / audit dalam app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949440" y="4581144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6949440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479792" y="450799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dalam borang untuk analitik sebenar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949440" y="5239512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2" name="Text 50"/>
          <p:cNvSpPr/>
          <p:nvPr/>
        </p:nvSpPr>
        <p:spPr>
          <a:xfrm>
            <a:off x="694944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7479792" y="516636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domain + persediaan emel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6384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Cakna </a:t>
            </a:r>
            <a:pPr indent="0" marL="0">
              <a:buNone/>
            </a:pPr>
            <a:r>
              <a:rPr lang="en-US" sz="5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proses — hujung ke hujung — untuk program komuniti Cakna.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0515600" cy="1417320"/>
          </a:xfrm>
          <a:prstGeom prst="roundRect">
            <a:avLst>
              <a:gd name="adj" fmla="val 7097"/>
            </a:avLst>
          </a:prstGeom>
          <a:solidFill>
            <a:srgbClr val="232327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43434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Akaun demo · Demo accounts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46817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admin@cakna.com</a:t>
            </a:r>
            <a:pPr indent="0" marL="0">
              <a:buNone/>
            </a:pPr>
            <a:r>
              <a:rPr lang="en-US" sz="15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reviewer@cakna.com</a:t>
            </a:r>
            <a:pPr indent="0" marL="0">
              <a:buNone/>
            </a:pPr>
            <a:r>
              <a:rPr lang="en-US" sz="15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franchisee@cakna.com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51023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setempat · Run locally:  npm install → npm run dev  →  localhost:3000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Group / Cakna  ·  Program Komuniti CSR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Cakna Hub — Aliran Kerja / Workflow</dc:title>
  <dc:subject>PptxGenJS Presentation</dc:subject>
  <dc:creator>Cakna Hub</dc:creator>
  <cp:lastModifiedBy>Cakna Hub</cp:lastModifiedBy>
  <cp:revision>1</cp:revision>
  <dcterms:created xsi:type="dcterms:W3CDTF">2026-07-27T07:22:26Z</dcterms:created>
  <dcterms:modified xsi:type="dcterms:W3CDTF">2026-07-27T07:22:26Z</dcterms:modified>
</cp:coreProperties>
</file>